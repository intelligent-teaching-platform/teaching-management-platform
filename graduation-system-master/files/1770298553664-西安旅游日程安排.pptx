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notesSlides/notesSlide1.xml" Type="http://schemas.openxmlformats.org/officeDocument/2006/relationships/notesSlide"/><Relationship Id="rId32" Target="notesSlides/notesSlide2.xml" Type="http://schemas.openxmlformats.org/officeDocument/2006/relationships/notesSlide"/><Relationship Id="rId33" Target="notesSlides/notesSlide3.xml" Type="http://schemas.openxmlformats.org/officeDocument/2006/relationships/notesSlide"/><Relationship Id="rId34" Target="notesSlides/notesSlide4.xml" Type="http://schemas.openxmlformats.org/officeDocument/2006/relationships/notesSlide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notesSlides/notesSlide8.xml" Type="http://schemas.openxmlformats.org/officeDocument/2006/relationships/notesSlide"/><Relationship Id="rId39" Target="notesSlides/notesSlide9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0.xml" Type="http://schemas.openxmlformats.org/officeDocument/2006/relationships/notesSlide"/><Relationship Id="rId41" Target="notesSlides/notesSlide11.xml" Type="http://schemas.openxmlformats.org/officeDocument/2006/relationships/notesSlide"/><Relationship Id="rId42" Target="notesSlides/notesSlide12.xml" Type="http://schemas.openxmlformats.org/officeDocument/2006/relationships/notesSlide"/><Relationship Id="rId43" Target="notesSlides/notesSlide13.xml" Type="http://schemas.openxmlformats.org/officeDocument/2006/relationships/notesSlide"/><Relationship Id="rId44" Target="notesSlides/notesSlide14.xml" Type="http://schemas.openxmlformats.org/officeDocument/2006/relationships/notesSlide"/><Relationship Id="rId45" Target="notesSlides/notesSlide15.xml" Type="http://schemas.openxmlformats.org/officeDocument/2006/relationships/notesSlide"/><Relationship Id="rId46" Target="notesSlides/notesSlide16.xml" Type="http://schemas.openxmlformats.org/officeDocument/2006/relationships/notesSlide"/><Relationship Id="rId47" Target="notesSlides/notesSlide17.xml" Type="http://schemas.openxmlformats.org/officeDocument/2006/relationships/notesSlide"/><Relationship Id="rId48" Target="notesSlides/notesSlide18.xml" Type="http://schemas.openxmlformats.org/officeDocument/2006/relationships/notesSlide"/><Relationship Id="rId49" Target="notesSlides/notesSlide19.xml" Type="http://schemas.openxmlformats.org/officeDocument/2006/relationships/notesSlide"/><Relationship Id="rId50" Target="notesSlides/notesSlide20.xml" Type="http://schemas.openxmlformats.org/officeDocument/2006/relationships/notesSlide"/><Relationship Id="rId51" Target="notesSlides/notesSlide21.xml" Type="http://schemas.openxmlformats.org/officeDocument/2006/relationships/notesSlide"/><Relationship Id="rId52" Target="notesSlides/notesSlide22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欢迎来到“长安十二时辰”西安旅游全攻略。这份攻略将带您穿越千年古都，体验西安的历史、文化与美食，为您规划一次完美的旅程。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本次攻略将分为五个部分，首先是行前的准备工作，然后是详细的三天日程安排，接着是不可错过的美食推荐，之后是交通与住宿的建议，最后是一些实用的旅行贴士。希望能帮助您全方位了解西安之旅。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在出发之前，让我们先了解一些行前的重要信息，做好充分的准备，让您的旅途更加顺利。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西安四季分明，每个季节都有不同的韵味。春秋两季气候舒适，是旅游的黄金时间；夏季虽然炎热，但可以体验夜晚的清凉；冬季则能欣赏到银装素裹的古城美景。您可以根据自己的喜好和时间来选择。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为了避免到了景点却无法进入的尴尬，强烈建议您提前预约热门景点的门票。特别是兵马俑和陕西历史博物馆，现场很难买到票。您可以通过官方渠道或旅游平台进行预约，记得至少提前三天哦。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接下来，我们将进入本次攻略的核心部分——详细的日程安排。我们为您规划了三天的行程，带您从世界奇迹到市井烟火，全方位感受西安的魅力。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第一天，我们将开启历史探秘之旅。上午去看世界第八大奇迹——兵马俑，下午游览唐玄宗和杨贵妃的爱情圣地华清宫，晚上则去永兴坊体验陕西各地的特色美食，感受摔碗酒的豪迈。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上午的重头戏是兵马俑。建议您早点出发，避开人流高峰。参观时，您可以跟随讲解员，深入了解这些“地下军团”的故事，感受两千多年前的历史震撼。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午，我们来到华清宫。这里不仅有美丽的园林风光，更承载着唐玄宗与杨贵妃的浪漫爱情和近代历史的重要印记。如果时间和预算允许，强烈推荐您观看晚上的《长恨歌》演出，那将是一场无与伦比的视听盛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晚上，我们来到永兴坊，这里是吃货的天堂。您可以品尝到来自陕西各地的特色小吃，最有名的当属摔碗酒，喝完酒将碗摔碎，寓意“岁岁平安”，非常有趣。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第二天，我们将深入体验西安的文化底蕴。上午在陕西历史博物馆纵览中华历史，在大雁塔感受玄奘精神；下午骑行在古老的城墙上，在碑林欣赏书法艺术；晚上则漫步在大唐不夜城，梦回盛唐。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上午，我们先去陕西历史博物馆，这里是了解中国历史的绝佳窗口。建议您租一个讲解器或跟团，这样能更好地理解文物背后的故事。之后前往大雁塔，在北广场等待一场壮观的音乐喷泉表演。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下午，您可以选择骑行在西安城墙上，从另一个视角俯瞰这座城市。如果您对书法感兴趣，碑林博物馆绝对不容错过。晚上，一定要去大唐不夜城，璀璨的灯光和精彩的表演会让您仿佛穿越回了盛唐时代。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天，我们将深入西安的市井生活，感受老城根下的烟火气。上午去回民街感受异域风情，在洒金桥品尝地道小吃；下午打卡钟楼鼓楼，逛书院门文化街；晚上则可以选择去德福巷小酌，或者去老菜场感受文艺气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上午，您可以先去回民街逛逛，感受一下那里的热闹氛围，然后一定要去旁边的洒金桥，那里的美食才是本地人的最爱。下午，登上钟楼或鼓楼，感受西安的中心坐标，之后去书院门淘一些喜欢的小物件。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逛吃逛吃，旅行中美食是不可或缺的一部分。接下来，就让我们一起走进西安的美食世界，看看有哪些必吃的特色美食。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这就是西安最具代表性的五种美食：肉夹馍、羊肉泡馍、凉皮、甑糕和biangbiang面。每一种都风味独特，一定要亲口尝一尝，才不算真正来过西安。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解决了吃和玩的问题，我们再来看看行和住。一份好的交通和住宿攻略，能让您的旅途更加轻松愉快。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西安的公共交通非常发达，地铁和公交可以到达大部分景点。从机场到市区，推荐乘坐地铁14号线。如果您想去周边的华山或法门寺，从西安北站乘坐高铁是最佳选择。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在西安住宿，主要推荐三个区域：钟楼/南门、大雁塔和曲江新区。钟楼周边最方便，大雁塔周边环境好，曲江新区则以高端酒店为主。您可以根据自己的预算和行程来选择合适的住宿地点。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最后，提醒您一些旅行中的注意事项。请务必提高警惕，谨防上当受骗；根据季节准备好合适的衣物；尊重当地的文化习俗；同时也要注意人身和财物安全。祝您旅途平安愉快！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我们的西安旅游攻略到此就全部结束了。希望这份攻略能为您的西安之行提供有价值的参考。感谢您的观看，祝您在西安度过一段美好的时光！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notesSlides/notesSlide2.xml" Type="http://schemas.openxmlformats.org/officeDocument/2006/relationships/notesSlide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13.jpeg" Type="http://schemas.openxmlformats.org/officeDocument/2006/relationships/image"/><Relationship Id="rId4" Target="../media/image14.jpeg" Type="http://schemas.openxmlformats.org/officeDocument/2006/relationships/image"/><Relationship Id="rId5" Target="../media/image15.jpeg" Type="http://schemas.openxmlformats.org/officeDocument/2006/relationships/image"/><Relationship Id="rId6" Target="../media/image16.jpeg" Type="http://schemas.openxmlformats.org/officeDocument/2006/relationships/image"/><Relationship Id="rId7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20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jpeg" Type="http://schemas.openxmlformats.org/officeDocument/2006/relationships/image"/><Relationship Id="rId7" Target="../media/image24.jpeg" Type="http://schemas.openxmlformats.org/officeDocument/2006/relationships/image"/><Relationship Id="rId8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notesSlides/notesSlide8.xml" Type="http://schemas.openxmlformats.org/officeDocument/2006/relationships/notesSlide"/><Relationship Id="rId2" Target="../media/image2.jpeg" Type="http://schemas.openxmlformats.org/officeDocument/2006/relationships/image"/><Relationship Id="rId3" Target="../media/image20.jpe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notesSlides/notesSlide9.xml" Type="http://schemas.openxmlformats.org/officeDocument/2006/relationships/notesSlide"/><Relationship Id="rId2" Target="../media/image2.jpeg" Type="http://schemas.openxmlformats.org/officeDocument/2006/relationships/image"/><Relationship Id="rId3" Target="../media/image23.jpe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2.jpeg" Type="http://schemas.openxmlformats.org/officeDocument/2006/relationships/image"/><Relationship Id="rId3" Target="../media/image24.jpe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47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48.jpe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Relationship Id="rId9" Target="../media/image5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svg" Type="http://schemas.openxmlformats.org/officeDocument/2006/relationships/image"/><Relationship Id="rId12" Target="../media/image62.jpeg" Type="http://schemas.openxmlformats.org/officeDocument/2006/relationships/image"/><Relationship Id="rId13" Target="../media/image63.png" Type="http://schemas.openxmlformats.org/officeDocument/2006/relationships/image"/><Relationship Id="rId14" Target="../media/image64.svg" Type="http://schemas.openxmlformats.org/officeDocument/2006/relationships/image"/><Relationship Id="rId15" Target="../notesSlides/notesSlide12.xml" Type="http://schemas.openxmlformats.org/officeDocument/2006/relationships/notesSlide"/><Relationship Id="rId2" Target="../media/image2.jpeg" Type="http://schemas.openxmlformats.org/officeDocument/2006/relationships/image"/><Relationship Id="rId3" Target="../media/image47.jpe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Relationship Id="rId8" Target="../media/image58.png" Type="http://schemas.openxmlformats.org/officeDocument/2006/relationships/image"/><Relationship Id="rId9" Target="../media/image5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69.svg" Type="http://schemas.openxmlformats.org/officeDocument/2006/relationships/image"/><Relationship Id="rId11" Target="../media/image51.jpeg" Type="http://schemas.openxmlformats.org/officeDocument/2006/relationships/image"/><Relationship Id="rId12" Target="../media/image70.png" Type="http://schemas.openxmlformats.org/officeDocument/2006/relationships/image"/><Relationship Id="rId13" Target="../media/image71.svg" Type="http://schemas.openxmlformats.org/officeDocument/2006/relationships/image"/><Relationship Id="rId14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48.jpeg" Type="http://schemas.openxmlformats.org/officeDocument/2006/relationships/image"/><Relationship Id="rId4" Target="../media/image58.png" Type="http://schemas.openxmlformats.org/officeDocument/2006/relationships/image"/><Relationship Id="rId5" Target="../media/image59.svg" Type="http://schemas.openxmlformats.org/officeDocument/2006/relationships/image"/><Relationship Id="rId6" Target="../media/image65.png" Type="http://schemas.openxmlformats.org/officeDocument/2006/relationships/image"/><Relationship Id="rId7" Target="../media/image66.svg" Type="http://schemas.openxmlformats.org/officeDocument/2006/relationships/image"/><Relationship Id="rId8" Target="../media/image67.jpeg" Type="http://schemas.openxmlformats.org/officeDocument/2006/relationships/image"/><Relationship Id="rId9" Target="../media/image6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72.jpe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73.jpe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74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4.jpeg" Type="http://schemas.openxmlformats.org/officeDocument/2006/relationships/image"/><Relationship Id="rId4" Target="../media/image72.jpeg" Type="http://schemas.openxmlformats.org/officeDocument/2006/relationships/image"/><Relationship Id="rId5" Target="../media/image73.jpeg" Type="http://schemas.openxmlformats.org/officeDocument/2006/relationships/image"/><Relationship Id="rId6" Target="../media/image77.jpeg" Type="http://schemas.openxmlformats.org/officeDocument/2006/relationships/image"/><Relationship Id="rId7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8.jpeg" Type="http://schemas.openxmlformats.org/officeDocument/2006/relationships/image"/><Relationship Id="rId4" Target="../media/image79.jpeg" Type="http://schemas.openxmlformats.org/officeDocument/2006/relationships/image"/><Relationship Id="rId5" Target="../media/image80.jpeg" Type="http://schemas.openxmlformats.org/officeDocument/2006/relationships/image"/><Relationship Id="rId6" Target="../media/image81.jpeg" Type="http://schemas.openxmlformats.org/officeDocument/2006/relationships/image"/><Relationship Id="rId7" Target="../media/image82.jpeg" Type="http://schemas.openxmlformats.org/officeDocument/2006/relationships/image"/><Relationship Id="rId8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18.xml" Type="http://schemas.openxmlformats.org/officeDocument/2006/relationships/notesSlid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0.jpeg" Type="http://schemas.openxmlformats.org/officeDocument/2006/relationships/image"/><Relationship Id="rId11" Target="../notesSlides/notesSlide19.xml" Type="http://schemas.openxmlformats.org/officeDocument/2006/relationships/notesSlide"/><Relationship Id="rId2" Target="../media/image2.jpeg" Type="http://schemas.openxmlformats.org/officeDocument/2006/relationships/imag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media/image85.png" Type="http://schemas.openxmlformats.org/officeDocument/2006/relationships/image"/><Relationship Id="rId6" Target="../media/image86.svg" Type="http://schemas.openxmlformats.org/officeDocument/2006/relationships/image"/><Relationship Id="rId7" Target="../media/image87.png" Type="http://schemas.openxmlformats.org/officeDocument/2006/relationships/image"/><Relationship Id="rId8" Target="../media/image88.svg" Type="http://schemas.openxmlformats.org/officeDocument/2006/relationships/image"/><Relationship Id="rId9" Target="../media/image89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6.png" Type="http://schemas.openxmlformats.org/officeDocument/2006/relationships/image"/><Relationship Id="rId11" Target="../media/image97.svg" Type="http://schemas.openxmlformats.org/officeDocument/2006/relationships/image"/><Relationship Id="rId12" Target="../notesSlides/notesSlide20.xml" Type="http://schemas.openxmlformats.org/officeDocument/2006/relationships/notesSlide"/><Relationship Id="rId2" Target="../media/image2.jpeg" Type="http://schemas.openxmlformats.org/officeDocument/2006/relationships/image"/><Relationship Id="rId3" Target="../media/image91.jpeg" Type="http://schemas.openxmlformats.org/officeDocument/2006/relationships/image"/><Relationship Id="rId4" Target="../media/image92.png" Type="http://schemas.openxmlformats.org/officeDocument/2006/relationships/image"/><Relationship Id="rId5" Target="../media/image93.svg" Type="http://schemas.openxmlformats.org/officeDocument/2006/relationships/image"/><Relationship Id="rId6" Target="../media/image94.jpe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95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svg" Type="http://schemas.openxmlformats.org/officeDocument/2006/relationships/image"/><Relationship Id="rId11" Target="../notesSlides/notesSlide21.xml" Type="http://schemas.openxmlformats.org/officeDocument/2006/relationships/notesSlide"/><Relationship Id="rId2" Target="../media/image2.jpeg" Type="http://schemas.openxmlformats.org/officeDocument/2006/relationships/image"/><Relationship Id="rId3" Target="../media/image98.png" Type="http://schemas.openxmlformats.org/officeDocument/2006/relationships/image"/><Relationship Id="rId4" Target="../media/image99.svg" Type="http://schemas.openxmlformats.org/officeDocument/2006/relationships/image"/><Relationship Id="rId5" Target="../media/image100.png" Type="http://schemas.openxmlformats.org/officeDocument/2006/relationships/image"/><Relationship Id="rId6" Target="../media/image101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10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4.jpeg" Type="http://schemas.openxmlformats.org/officeDocument/2006/relationships/image"/><Relationship Id="rId3" Target="../notesSlides/notesSlide22.xml" Type="http://schemas.openxmlformats.org/officeDocument/2006/relationships/notesSlide"/><Relationship Id="rId4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B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1016000" y="2286000"/>
            <a:ext cx="1016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长安十二时辰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21485" flipH="false" flipV="false">
            <a:off x="5080020" y="3422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00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1016000" y="3619500"/>
            <a:ext cx="1016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8B000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西安旅游全攻略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09800"/>
            <a:ext cx="355600" cy="3556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1336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01 行前须知：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准备与规划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8702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048000"/>
            <a:ext cx="355600" cy="355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9718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02 日程安排：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穿越千年古都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7084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3886200"/>
            <a:ext cx="355600" cy="355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524000" y="38100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03 舌尖盛宴：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地道美食指南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466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4724400"/>
            <a:ext cx="355600" cy="355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6482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04 行住无忧：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交通与住宿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384800"/>
            <a:ext cx="10668000" cy="711200"/>
          </a:xfrm>
          <a:prstGeom prst="roundRect">
            <a:avLst>
              <a:gd name="adj" fmla="val 17857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FFD7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55600" cy="3556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524000" y="54864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05 实用贴士：</a:t>
            </a:r>
            <a:r>
              <a:rPr lang="en-US" b="false" i="false" strike="noStrike" u="none" sz="16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注意事项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413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行前须知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AA52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746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400">
                <a:solidFill>
                  <a:srgbClr val="B8860B"/>
                </a:solidFill>
                <a:latin typeface="Noto Sans SC"/>
                <a:ea typeface="Noto Sans SC"/>
                <a:cs typeface="Noto Sans SC"/>
                <a:sym typeface="Noto Sans SC"/>
              </a:rPr>
              <a:t>准备与规划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最佳旅行时间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12499" r="12499" t="0" b="0"/>
          <a:stretch>
            <a:fillRect/>
          </a:stretch>
        </p:blipFill>
        <p:spPr>
          <a:xfrm rot="0" flipH="false" flipV="false">
            <a:off x="952500" y="2222500"/>
            <a:ext cx="1651000" cy="1651000"/>
          </a:xfrm>
          <a:prstGeom prst="roundRect">
            <a:avLst>
              <a:gd name="adj" fmla="val 769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730500" y="222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春季 (3-5月)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730500" y="2603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气候宜人，百花盛开，适合踏青赏花，感受古城的生机与活力。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14921" r="14921" t="0" b="0"/>
          <a:stretch>
            <a:fillRect/>
          </a:stretch>
        </p:blipFill>
        <p:spPr>
          <a:xfrm rot="0" flipH="false" flipV="false">
            <a:off x="6413500" y="2222500"/>
            <a:ext cx="1651000" cy="1651000"/>
          </a:xfrm>
          <a:prstGeom prst="roundRect">
            <a:avLst>
              <a:gd name="adj" fmla="val 769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191500" y="222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夏季 (6-8月)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191500" y="26035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炎热多雨，需做好防晒和防暑。夜晚凉爽，适合体验夜市文化。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2545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1406" r="1406" t="0" b="0"/>
          <a:stretch>
            <a:fillRect/>
          </a:stretch>
        </p:blipFill>
        <p:spPr>
          <a:xfrm rot="0" flipH="false" flipV="false">
            <a:off x="952500" y="4445000"/>
            <a:ext cx="1651000" cy="1651000"/>
          </a:xfrm>
          <a:prstGeom prst="roundRect">
            <a:avLst>
              <a:gd name="adj" fmla="val 769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2730500" y="444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秋季 (9-11月)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730500" y="482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天高气爽，秋意浓，是游览古迹、登高望远的最佳时节。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2545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rcRect l="17968" r="17968" t="0" b="0"/>
          <a:stretch>
            <a:fillRect/>
          </a:stretch>
        </p:blipFill>
        <p:spPr>
          <a:xfrm rot="0" flipH="false" flipV="false">
            <a:off x="6413500" y="4445000"/>
            <a:ext cx="1651000" cy="1651000"/>
          </a:xfrm>
          <a:prstGeom prst="roundRect">
            <a:avLst>
              <a:gd name="adj" fmla="val 7692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8191500" y="4445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冬季 (12-2月)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191500" y="4826000"/>
            <a:ext cx="3048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寒冷干燥，游客较少，若遇降雪，可欣赏到银装素裹的古城美景。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门票预约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460500" y="226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重要提示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6670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兵马俑、陕西历史博物馆、华清宫等热门景点需提前预约，避免现场无票。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3422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460500" y="35941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预约渠道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4000500"/>
            <a:ext cx="444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推荐通过官方公众号、官方网站或携程、美团等第三方旅游平台进行预约。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549" flipH="false" flipV="false">
            <a:off x="1016009" y="4756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9530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460500" y="4927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时间建议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5334000"/>
            <a:ext cx="444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建议提前 3-7 天预约，节假日旺季请尽早安排。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032000"/>
            <a:ext cx="5207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0" r="0" t="31654" b="31654"/>
          <a:stretch>
            <a:fillRect/>
          </a:stretch>
        </p:blipFill>
        <p:spPr>
          <a:xfrm rot="0" flipH="false" flipV="false">
            <a:off x="6477000" y="2286000"/>
            <a:ext cx="4699000" cy="3556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2700000" dist="63500" blurRad="127000" algn="tl" rotWithShape="false">
              <a:srgbClr val="000000">
                <a:alpha val="1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413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日程安排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549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746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 spc="400">
                <a:solidFill>
                  <a:srgbClr val="A0522D"/>
                </a:solidFill>
                <a:latin typeface="Noto Serif SC"/>
                <a:ea typeface="Noto Serif SC"/>
                <a:cs typeface="Noto Serif SC"/>
                <a:sym typeface="Noto Serif SC"/>
              </a:rPr>
              <a:t>穿越千年古都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1：历史探秘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主题：世界奇迹与皇家园林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6858" r="6858" t="0" b="0"/>
          <a:stretch>
            <a:fillRect/>
          </a:stretch>
        </p:blipFill>
        <p:spPr>
          <a:xfrm rot="0" flipH="false" flipV="false">
            <a:off x="952500" y="2476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5085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44704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上午 · 兵马俑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826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世界第八大奇迹，规模宏大的地下军阵，见证秦朝的辉煌历史。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286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3401" r="3401" t="0" b="0"/>
          <a:stretch>
            <a:fillRect/>
          </a:stretch>
        </p:blipFill>
        <p:spPr>
          <a:xfrm rot="0" flipH="false" flipV="false">
            <a:off x="4635500" y="2476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4508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44704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下午 · 华清宫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4826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唐玄宗与杨贵妃的爱情圣地，感受皇家园林的典雅与历史的厚重。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286000"/>
            <a:ext cx="3302000" cy="3810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/>
          <a:srcRect l="0" r="0" t="25543" b="25543"/>
          <a:stretch>
            <a:fillRect/>
          </a:stretch>
        </p:blipFill>
        <p:spPr>
          <a:xfrm rot="0" flipH="false" flipV="false">
            <a:off x="8318500" y="2476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18500" y="45085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36000" y="4470400"/>
            <a:ext cx="2476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晚上 · 永兴坊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48260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erif SC"/>
                <a:ea typeface="Noto Serif SC"/>
                <a:cs typeface="Noto Serif SC"/>
                <a:sym typeface="Noto Serif SC"/>
              </a:rPr>
              <a:t>汇聚陕西特色美食，体验摔碗酒的豪迈，感受地道的民俗风情。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上午：兵马俑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10609" r="10609" t="0" b="0"/>
          <a:stretch>
            <a:fillRect/>
          </a:stretch>
        </p:blipFill>
        <p:spPr>
          <a:xfrm rot="0" flipH="false" flipV="false">
            <a:off x="762000" y="1905000"/>
            <a:ext cx="5334000" cy="3810000"/>
          </a:xfrm>
          <a:prstGeom prst="rect">
            <a:avLst/>
          </a:prstGeom>
          <a:noFill/>
          <a:ln w="12700" cmpd="sng" cap="flat">
            <a:solidFill>
              <a:srgbClr val="8B0000">
                <a:alpha val="100000"/>
              </a:srgbClr>
            </a:solidFill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9304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858000" y="1905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景点介绍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858000" y="2286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世界第八大奇迹，秦始皇陵的陪葬坑，规模宏大，栩栩如生。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30734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858000" y="3048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推荐理由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858000" y="34290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必看的历史遗迹，感受秦朝的强大国力。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8814" flipH="false" flipV="false">
            <a:off x="6477008" y="4057650"/>
            <a:ext cx="495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2164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6858000" y="4191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门票信息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858000" y="45085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120元（含秦始皇陵）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77000" y="4851400"/>
            <a:ext cx="304800" cy="3048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4826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交通指南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51435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地铁9号线到华清池站，转乘公交临潼602路。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54864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858000" y="5461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游玩时长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5778500"/>
            <a:ext cx="457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建议游玩 2-3 小时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下午：华清宫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12011" r="12011" t="0" b="0"/>
          <a:stretch>
            <a:fillRect/>
          </a:stretch>
        </p:blipFill>
        <p:spPr>
          <a:xfrm rot="0" flipH="false" flipV="false">
            <a:off x="762000" y="1905000"/>
            <a:ext cx="5080000" cy="4064000"/>
          </a:xfrm>
          <a:prstGeom prst="rect">
            <a:avLst/>
          </a:prstGeom>
          <a:noFill/>
          <a:ln w="12700" cmpd="sng" cap="flat">
            <a:solidFill>
              <a:srgbClr val="8B0000">
                <a:alpha val="100000"/>
              </a:srgbClr>
            </a:solidFill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23000" y="1968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604000" y="1930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景点介绍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604000" y="23114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唐玄宗与杨贵妃的沐浴之地，西安事变的发生地。自然景观与历史故事的完美结合。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8384" flipH="false" flipV="false">
            <a:off x="6223008" y="3105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23000" y="33020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604000" y="32639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游玩指南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36830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858000" y="36576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门票：120元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017000" y="3683000"/>
            <a:ext cx="203200" cy="203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9271000" y="3657600"/>
            <a:ext cx="215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交通：同属临潼区，近兵马俑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4038600"/>
            <a:ext cx="203200" cy="203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58000" y="4013200"/>
            <a:ext cx="203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游玩时间：约2小时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8384" flipH="false" flipV="false">
            <a:off x="6223008" y="4438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223000" y="46355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604000" y="4597400"/>
            <a:ext cx="482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特别推荐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604000" y="49784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晚上可观看实景历史舞剧《长恨歌》，场面震撼，建议提前订票。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晚上：永兴坊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r="0" t="20394" b="20394"/>
          <a:stretch>
            <a:fillRect/>
          </a:stretch>
        </p:blipFill>
        <p:spPr>
          <a:xfrm rot="0" flipH="false" flipV="false">
            <a:off x="762000" y="2032000"/>
            <a:ext cx="4826000" cy="3810000"/>
          </a:xfrm>
          <a:prstGeom prst="rect">
            <a:avLst/>
          </a:prstGeom>
          <a:noFill/>
          <a:ln w="12700" cmpd="sng" cap="flat">
            <a:solidFill>
              <a:srgbClr val="8B0000">
                <a:alpha val="100000"/>
              </a:srgbClr>
            </a:solidFill>
            <a:prstDash val="solid"/>
            <a:round/>
          </a:ln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096000" y="20320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6477000" y="20066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街区介绍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477000" y="2387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汇集了陕西各地特色美食的文化旅游街区，一站式体验地道陕味。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096000" y="29845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6477000" y="29591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推荐理由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477000" y="33401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体验摔碗酒的乐趣，寓意“岁岁平安”，是必打卡的网红项目。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096000" y="3937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477000" y="39116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特色美食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77000" y="4292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摔碗酒、子长煎饼、潼关肉夹馍、泾阳茯茶等。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96000" y="48895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477000" y="4864100"/>
            <a:ext cx="495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交通与时间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77000" y="52451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交通：市区打车或地铁前往 | 游玩时间：1-2小时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2：文化体验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6154" b="6154"/>
          <a:stretch>
            <a:fillRect/>
          </a:stretch>
        </p:blipFill>
        <p:spPr>
          <a:xfrm rot="0" flipH="false" flipV="false">
            <a:off x="889000" y="2032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4064000"/>
            <a:ext cx="254000" cy="254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06500" y="4038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上午：博物馆与大雁塔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4381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陕西历史博物馆：纵览中华历史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大雁塔：感受玄奘精神与喷泉夜景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905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rcRect l="4937" r="4937" t="0" b="0"/>
          <a:stretch>
            <a:fillRect/>
          </a:stretch>
        </p:blipFill>
        <p:spPr>
          <a:xfrm rot="0" flipH="false" flipV="false">
            <a:off x="4572000" y="2032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40640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889500" y="4038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下午：城墙与碑林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72000" y="4381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西安城墙：南门骑行，俯瞰古城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碑林博物馆：欣赏古代书法艺术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905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rcRect l="0" r="0" t="3051" b="3051"/>
          <a:stretch>
            <a:fillRect/>
          </a:stretch>
        </p:blipFill>
        <p:spPr>
          <a:xfrm rot="0" flipH="false" flipV="false">
            <a:off x="8255000" y="2032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255000" y="40640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572500" y="4038600"/>
            <a:ext cx="273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晚上：大唐不夜城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4381500"/>
            <a:ext cx="304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大唐不夜城：沉浸式夜游体验</a:t>
            </a: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65100" marL="1651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梦回盛唐，感受灯火辉煌的夜景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上午：陕历博 &amp; 大雁塔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20461" b="20461"/>
          <a:stretch>
            <a:fillRect/>
          </a:stretch>
        </p:blipFill>
        <p:spPr>
          <a:xfrm rot="0" flipH="false" flipV="false">
            <a:off x="952500" y="2095500"/>
            <a:ext cx="4826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2545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335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陕西历史博物馆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203200" cy="203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06500" y="4610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馆藏文物上起远古石器，下至1840年前器物，“给我一天，还你万年”。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51435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06500" y="51181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门票：免费（需预约），珍宝馆30元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52500" y="5461000"/>
            <a:ext cx="203200" cy="203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206500" y="54356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推荐：必看何家村遗宝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905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rcRect l="0" r="0" t="16252" b="16252"/>
          <a:stretch>
            <a:fillRect/>
          </a:stretch>
        </p:blipFill>
        <p:spPr>
          <a:xfrm rot="0" flipH="false" flipV="false">
            <a:off x="6413500" y="2095500"/>
            <a:ext cx="4826000" cy="2032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413500" y="42545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794500" y="4216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大雁塔 (大慈恩寺)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46355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667500" y="4610100"/>
            <a:ext cx="457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为保存玄奘法师由天竺经丝绸之路带回长安的经卷佛像而建。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13500" y="51435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667500" y="51181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门票：大慈恩寺40元，登塔30元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13500" y="54610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667500" y="5435600"/>
            <a:ext cx="457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推荐：北广场音乐喷泉（19:00、21:00）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下午 &amp; 晚上：城墙、碑林 &amp; 大唐不夜城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3730" r="3730" t="0" b="0"/>
          <a:stretch>
            <a:fillRect/>
          </a:stretch>
        </p:blipFill>
        <p:spPr>
          <a:xfrm rot="0" flipH="false" flipV="false">
            <a:off x="952500" y="2095500"/>
            <a:ext cx="2921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952500" y="4000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西安城墙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14946" flipH="false" flipV="false">
            <a:off x="952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508500"/>
            <a:ext cx="203200" cy="2032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206500" y="44831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门票：54元 | 推荐骑行游览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52500" y="4800600"/>
            <a:ext cx="203200" cy="2032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206500" y="47752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中国现存规模最大、保存最完整的古代城垣，傍晚景色最佳。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445000" y="1905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rcRect l="0" r="0" t="27173" b="27173"/>
          <a:stretch>
            <a:fillRect/>
          </a:stretch>
        </p:blipFill>
        <p:spPr>
          <a:xfrm rot="0" flipH="false" flipV="false">
            <a:off x="4635500" y="2095500"/>
            <a:ext cx="2921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4635500" y="4000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碑林博物馆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-14946" flipH="false" flipV="false">
            <a:off x="4635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4508500"/>
            <a:ext cx="203200" cy="2032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889500" y="44831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门票：65元 | 书法爱好者天堂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4635500" y="4800600"/>
            <a:ext cx="203200" cy="2032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889500" y="47752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收藏古代碑石最早、数目最大，可欣赏颜真卿等名家真迹。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1905000"/>
            <a:ext cx="3302000" cy="4318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/>
          <a:srcRect l="0" r="0" t="4276" b="4276"/>
          <a:stretch>
            <a:fillRect/>
          </a:stretch>
        </p:blipFill>
        <p:spPr>
          <a:xfrm rot="0" flipH="false" flipV="false">
            <a:off x="8318500" y="2095500"/>
            <a:ext cx="2921000" cy="177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21" id="21"/>
          <p:cNvSpPr/>
          <p:nvPr/>
        </p:nvSpPr>
        <p:spPr>
          <a:xfrm rot="0" flipH="false" flipV="false">
            <a:off x="8318500" y="40005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大唐不夜城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946" flipH="false" flipV="false">
            <a:off x="8318514" y="4375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18500" y="45085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572500" y="4483100"/>
            <a:ext cx="2667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门票：免费 | 灯光秀与表演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18500" y="4800600"/>
            <a:ext cx="203200" cy="2032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572500" y="4775200"/>
            <a:ext cx="266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大型仿唐建筑群，感受盛唐繁华，夜晚灯光璀璨。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Day 3：市井风情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老城根下的烟火气 · 西安深度游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413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rcRect l="6874" r="6874" t="0" b="0"/>
          <a:stretch>
            <a:fillRect/>
          </a:stretch>
        </p:blipFill>
        <p:spPr>
          <a:xfrm rot="0" flipH="false" flipV="false">
            <a:off x="952500" y="2603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4635500"/>
            <a:ext cx="254000" cy="254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270000" y="4597400"/>
            <a:ext cx="2730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上午 · 寻味老街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打卡回民街高家大院，漫步洒金桥美食街，品尝地道陕味小吃，感受最纯正的市井烟火。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413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r="0" t="1239" b="1239"/>
          <a:stretch>
            <a:fillRect/>
          </a:stretch>
        </p:blipFill>
        <p:spPr>
          <a:xfrm rot="0" flipH="false" flipV="false">
            <a:off x="4635500" y="2603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635500" y="46355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53000" y="4597400"/>
            <a:ext cx="2730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下午 · 钟鼓晨钟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探访地标钟楼与鼓楼，感受古城中轴线的宏伟；漫步书院门，体验碑林文化与笔墨纸砚。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413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23913" b="23913"/>
          <a:stretch>
            <a:fillRect/>
          </a:stretch>
        </p:blipFill>
        <p:spPr>
          <a:xfrm rot="0" flipH="false" flipV="false">
            <a:off x="8318500" y="2603500"/>
            <a:ext cx="2921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18500" y="46355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636000" y="4597400"/>
            <a:ext cx="27305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8B0000"/>
                </a:solidFill>
                <a:latin typeface="Noto Sans SC"/>
                <a:ea typeface="Noto Sans SC"/>
                <a:cs typeface="Noto Sans SC"/>
                <a:sym typeface="Noto Sans SC"/>
              </a:rPr>
              <a:t>晚上 · 夜色阑珊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49530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选择德福巷酒吧街小酌一杯，或前往老菜场市井文化创意街区，感受古今交融的文艺气息。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上午 &amp; 下午：市井与文化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0000" b="10000"/>
          <a:stretch>
            <a:fillRect/>
          </a:stretch>
        </p:blipFill>
        <p:spPr>
          <a:xfrm rot="0" flipH="false" flipV="false">
            <a:off x="952500" y="18415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2984500" y="184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回民街 · 高家大院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84500" y="22225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著名美食文化街区，伊斯兰风情浓郁。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参观高家大院，观看皮影戏表演。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21874" r="21874" t="0" b="0"/>
          <a:stretch>
            <a:fillRect/>
          </a:stretch>
        </p:blipFill>
        <p:spPr>
          <a:xfrm rot="0" flipH="false" flipV="false">
            <a:off x="6413500" y="18415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9" id="9"/>
          <p:cNvSpPr/>
          <p:nvPr/>
        </p:nvSpPr>
        <p:spPr>
          <a:xfrm rot="0" flipH="false" flipV="false">
            <a:off x="8445500" y="184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洒金桥 · 地道美食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445500" y="22225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本地人常去的美食街，价格实惠味道正宗。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刘信牛羊肉泡馍、马二酸汤水饺。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1275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rcRect l="16562" r="16562" t="0" b="0"/>
          <a:stretch>
            <a:fillRect/>
          </a:stretch>
        </p:blipFill>
        <p:spPr>
          <a:xfrm rot="0" flipH="false" flipV="false">
            <a:off x="952500" y="43180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2984500" y="431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钟楼 &amp; 鼓楼 · 地标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2984500" y="4699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西安标志性建筑，晨钟暮鼓见证变迁。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联票50元，傍晚登楼俯瞰夜景。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127500"/>
            <a:ext cx="5207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/>
          <a:srcRect l="16757" r="16757" t="0" b="0"/>
          <a:stretch>
            <a:fillRect/>
          </a:stretch>
        </p:blipFill>
        <p:spPr>
          <a:xfrm rot="0" flipH="false" flipV="false">
            <a:off x="6413500" y="4318000"/>
            <a:ext cx="1905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8445500" y="4318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书院门 · 文化古街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45500" y="4699000"/>
            <a:ext cx="279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简介：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古色古香，经营文房四宝与古玩字画。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推荐：</a:t>
            </a:r>
            <a:r>
              <a:rPr lang="en-US" b="fals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淘一些特色纪念品，感受文化底蕴。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286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舌尖盛宴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AA52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6195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 spc="400">
                <a:solidFill>
                  <a:srgbClr val="646464"/>
                </a:solidFill>
                <a:latin typeface="Noto Serif SC"/>
                <a:ea typeface="Noto Serif SC"/>
                <a:cs typeface="Noto Serif SC"/>
                <a:sym typeface="Noto Serif SC"/>
              </a:rPr>
              <a:t>地道美食指南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必吃清单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12264" b="12264"/>
          <a:stretch>
            <a:fillRect/>
          </a:stretch>
        </p:blipFill>
        <p:spPr>
          <a:xfrm rot="0" flipH="false" flipV="false">
            <a:off x="889000" y="2032000"/>
            <a:ext cx="3048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361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肉夹馍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445000" y="1905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r="0" t="12485" b="12485"/>
          <a:stretch>
            <a:fillRect/>
          </a:stretch>
        </p:blipFill>
        <p:spPr>
          <a:xfrm rot="0" flipH="false" flipV="false">
            <a:off x="4572000" y="2032000"/>
            <a:ext cx="3048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8" id="8"/>
          <p:cNvSpPr/>
          <p:nvPr/>
        </p:nvSpPr>
        <p:spPr>
          <a:xfrm rot="0" flipH="false" flipV="false">
            <a:off x="4572000" y="361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羊肉泡馍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0" y="1905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rcRect l="0" r="0" t="12652" b="12652"/>
          <a:stretch>
            <a:fillRect/>
          </a:stretch>
        </p:blipFill>
        <p:spPr>
          <a:xfrm rot="0" flipH="false" flipV="false">
            <a:off x="8255000" y="2032000"/>
            <a:ext cx="3048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1" id="11"/>
          <p:cNvSpPr/>
          <p:nvPr/>
        </p:nvSpPr>
        <p:spPr>
          <a:xfrm rot="0" flipH="false" flipV="false">
            <a:off x="8255000" y="3619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凉皮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2603500" y="4318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rcRect l="0" r="0" t="12397" b="12397"/>
          <a:stretch>
            <a:fillRect/>
          </a:stretch>
        </p:blipFill>
        <p:spPr>
          <a:xfrm rot="0" flipH="false" flipV="false">
            <a:off x="2730500" y="4445000"/>
            <a:ext cx="3048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2730500" y="603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甑糕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86500" y="4318000"/>
            <a:ext cx="3302000" cy="2159000"/>
          </a:xfrm>
          <a:prstGeom prst="roundRect">
            <a:avLst>
              <a:gd name="adj" fmla="val 5882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C8C8C8">
                <a:alpha val="100000"/>
              </a:srgbClr>
            </a:solidFill>
            <a:prstDash val="solid"/>
            <a:round/>
          </a:ln>
          <a:effectLst>
            <a:outerShdw dir="2700000" dist="50800" blurRad="101600" algn="tl" rotWithShape="false">
              <a:srgbClr val="000000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rcRect l="0" r="0" t="16666" b="16666"/>
          <a:stretch>
            <a:fillRect/>
          </a:stretch>
        </p:blipFill>
        <p:spPr>
          <a:xfrm rot="0" flipH="false" flipV="false">
            <a:off x="6413500" y="4445000"/>
            <a:ext cx="3048000" cy="1524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6413500" y="60325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808080"/>
                </a:solidFill>
                <a:latin typeface="Noto Serif SC"/>
                <a:ea typeface="Noto Serif SC"/>
                <a:cs typeface="Noto Serif SC"/>
                <a:sym typeface="Noto Serif SC"/>
              </a:rPr>
              <a:t>biangbiang面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2286000" y="2286000"/>
            <a:ext cx="7620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行住无忧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34376" flipH="false" flipV="false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DAA520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/>
          <p:nvPr/>
        </p:nvSpPr>
        <p:spPr>
          <a:xfrm rot="0" flipH="false" flipV="false">
            <a:off x="2286000" y="3683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交通与住宿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交通指南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905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095500"/>
            <a:ext cx="304800" cy="3048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333500" y="2057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市内交通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413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地铁/公交：</a:t>
            </a: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便捷高效，支持支付宝扫码乘车，覆盖主要景点。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出租车/单车：</a:t>
            </a: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起步价8.5元；单车适合短途骑行体验古城风光。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429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952500" y="36195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581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机场往返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3937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地铁14号线：</a:t>
            </a: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直达市区，耗时约45分钟，最推荐。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-152400" marL="152400">
              <a:lnSpc>
                <a:spcPct val="125000"/>
              </a:lnSpc>
              <a:buClr>
                <a:srgbClr val="505050"/>
              </a:buClr>
              <a:buChar char="•"/>
            </a:pPr>
            <a:r>
              <a:rPr lang="en-US" b="tru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机场大巴：</a:t>
            </a: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多条线路覆盖主要区域，票价25元。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5207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6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4978400"/>
            <a:ext cx="444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城际高铁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5334000"/>
            <a:ext cx="482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-152400" marL="152400">
              <a:lnSpc>
                <a:spcPct val="125000"/>
              </a:lnSpc>
              <a:buClr>
                <a:srgbClr val="505050"/>
              </a:buClr>
              <a:buChar char="•"/>
              <a:defRPr/>
            </a:pPr>
            <a:r>
              <a:rPr lang="en-US" b="true" i="false" strike="noStrike" u="none" sz="12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西安北站：</a:t>
            </a:r>
            <a:r>
              <a:rPr lang="en-US" b="false" i="false" strike="noStrike" u="none" sz="12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发往华山、法门寺等周边景点，出行首选。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9"/>
          <a:srcRect l="0" r="0" t="29268" b="29268"/>
          <a:stretch>
            <a:fillRect/>
          </a:stretch>
        </p:blipFill>
        <p:spPr>
          <a:xfrm rot="0" flipH="false" flipV="false">
            <a:off x="6223000" y="1905000"/>
            <a:ext cx="5207000" cy="2159000"/>
          </a:xfrm>
          <a:prstGeom prst="rect">
            <a:avLst/>
          </a:prstGeom>
          <a:noFill/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</a:ln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/>
          <a:srcRect l="0" r="0" t="18957" b="18957"/>
          <a:stretch>
            <a:fillRect/>
          </a:stretch>
        </p:blipFill>
        <p:spPr>
          <a:xfrm rot="0" flipH="false" flipV="false">
            <a:off x="6223000" y="4191000"/>
            <a:ext cx="5207000" cy="1905000"/>
          </a:xfrm>
          <a:prstGeom prst="rect">
            <a:avLst/>
          </a:prstGeom>
          <a:noFill/>
          <a:ln w="12700" cmpd="sng" cap="flat">
            <a:solidFill>
              <a:srgbClr val="8B0000">
                <a:alpha val="3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住宿推荐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8333" b="8333"/>
          <a:stretch>
            <a:fillRect/>
          </a:stretch>
        </p:blipFill>
        <p:spPr>
          <a:xfrm rot="0" flipH="false" flipV="false">
            <a:off x="889000" y="2159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89000" y="4191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219200" y="4165600"/>
            <a:ext cx="2717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钟楼/南门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4323" flipH="false" flipV="false">
            <a:off x="8890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889000" y="4635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市中心繁华地带，交通便利，夜景迷人。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适合：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喜欢热闹、出行方便的游客。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rcRect l="0" r="0" t="3125" b="3125"/>
          <a:stretch>
            <a:fillRect/>
          </a:stretch>
        </p:blipFill>
        <p:spPr>
          <a:xfrm rot="0" flipH="false" flipV="false">
            <a:off x="4572000" y="2159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4572000" y="4191000"/>
            <a:ext cx="304800" cy="3048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902200" y="4165600"/>
            <a:ext cx="2717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大雁塔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14323" flipH="false" flipV="false">
            <a:off x="45720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4" id="14"/>
          <p:cNvSpPr/>
          <p:nvPr/>
        </p:nvSpPr>
        <p:spPr>
          <a:xfrm rot="0" flipH="false" flipV="false">
            <a:off x="4572000" y="4635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毗邻景区，步行可达大唐不夜城，环境优美。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适合：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计划深度游览曲江景区的游客。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85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/>
          <a:srcRect l="4999" r="5000" t="0" b="0"/>
          <a:stretch>
            <a:fillRect/>
          </a:stretch>
        </p:blipFill>
        <p:spPr>
          <a:xfrm rot="0" flipH="false" flipV="false">
            <a:off x="8255000" y="2159000"/>
            <a:ext cx="3048000" cy="1905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255000" y="4191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8585200" y="4165600"/>
            <a:ext cx="27178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曲江新区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4323" flipH="false" flipV="false">
            <a:off x="8255013" y="4565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8255000" y="4635500"/>
            <a:ext cx="304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特点：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高端酒店集中，环境清幽，城市富人区。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true" i="false" strike="noStrike" u="none" sz="1400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适合：</a:t>
            </a: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追求住宿品质和安静环境的游客。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注意事项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5" id="5"/>
          <p:cNvSpPr/>
          <p:nvPr/>
        </p:nvSpPr>
        <p:spPr>
          <a:xfrm rot="0" flipH="false" flipV="false">
            <a:off x="1524000" y="226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防骗提示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9291" flipH="false" flipV="false">
            <a:off x="1016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1016000" y="2857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警惕景区周边的“低价游”“免费接送”等陷阱，切勿轻信陌生人。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260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季节穿搭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9291" flipH="false" flipV="false">
            <a:off x="6477009" y="2724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6477000" y="2857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春秋带外套，夏季注意防晒，冬季需做好保暖措施，舒适出行。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06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4318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524000" y="429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文化尊重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-9291" flipH="false" flipV="false">
            <a:off x="1016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/>
          <p:nvPr/>
        </p:nvSpPr>
        <p:spPr>
          <a:xfrm rot="0" flipH="false" flipV="false">
            <a:off x="1016000" y="488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进入清真寺等宗教场所，请尊重当地习俗，着装得体，举止文明。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223000" y="4064000"/>
            <a:ext cx="5207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70000"/>
            </a:srgbClr>
          </a:solidFill>
          <a:ln w="12700" cmpd="sng" cap="flat">
            <a:solidFill>
              <a:srgbClr val="8B0000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43180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85000" y="4292600"/>
            <a:ext cx="419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8B0000"/>
                </a:solidFill>
                <a:latin typeface="Noto Serif SC"/>
                <a:ea typeface="Noto Serif SC"/>
                <a:cs typeface="Noto Serif SC"/>
                <a:sym typeface="Noto Serif SC"/>
              </a:rPr>
              <a:t>财物安全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9291" flipH="false" flipV="false">
            <a:off x="6477009" y="475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8080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477000" y="4889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在人多拥挤的地方，请时刻注意保管好个人财物，确保人身安全。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0B0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280000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D700"/>
                </a:solidFill>
                <a:latin typeface="Noto Serif SC"/>
                <a:ea typeface="Noto Serif SC"/>
                <a:cs typeface="Noto Serif SC"/>
                <a:sym typeface="Noto Serif SC"/>
              </a:rPr>
              <a:t>感谢观看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11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000">
                <a:solidFill>
                  <a:srgbClr val="FFD700">
                    <a:alpha val="80000"/>
                  </a:srgbClr>
                </a:solidFill>
                <a:latin typeface="Noto Serif SC"/>
                <a:ea typeface="Noto Serif SC"/>
                <a:cs typeface="Noto Serif SC"/>
                <a:sym typeface="Noto Serif SC"/>
              </a:rPr>
              <a:t>祝您旅途愉快！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7401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70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